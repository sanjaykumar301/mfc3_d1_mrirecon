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Semi-Bold" charset="1" panose="00000700000000000000"/>
      <p:regular r:id="rId16"/>
    </p:embeddedFont>
    <p:embeddedFont>
      <p:font typeface="Poppins" charset="1" panose="00000500000000000000"/>
      <p:regular r:id="rId17"/>
    </p:embeddedFont>
    <p:embeddedFont>
      <p:font typeface="Poppins Bold" charset="1" panose="00000800000000000000"/>
      <p:regular r:id="rId18"/>
    </p:embeddedFont>
    <p:embeddedFont>
      <p:font typeface="DM Sans"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1793400" y="-712357"/>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AAD7D4">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4377770" y="5498295"/>
            <a:ext cx="9732447" cy="4052900"/>
            <a:chOff x="0" y="0"/>
            <a:chExt cx="2563278" cy="1067430"/>
          </a:xfrm>
        </p:grpSpPr>
        <p:sp>
          <p:nvSpPr>
            <p:cNvPr name="Freeform 7" id="7"/>
            <p:cNvSpPr/>
            <p:nvPr/>
          </p:nvSpPr>
          <p:spPr>
            <a:xfrm flipH="false" flipV="false" rot="0">
              <a:off x="0" y="0"/>
              <a:ext cx="2563278" cy="1067430"/>
            </a:xfrm>
            <a:custGeom>
              <a:avLst/>
              <a:gdLst/>
              <a:ahLst/>
              <a:cxnLst/>
              <a:rect r="r" b="b" t="t" l="l"/>
              <a:pathLst>
                <a:path h="1067430" w="2563278">
                  <a:moveTo>
                    <a:pt x="0" y="0"/>
                  </a:moveTo>
                  <a:lnTo>
                    <a:pt x="2563278" y="0"/>
                  </a:lnTo>
                  <a:lnTo>
                    <a:pt x="2563278" y="1067430"/>
                  </a:lnTo>
                  <a:lnTo>
                    <a:pt x="0" y="1067430"/>
                  </a:lnTo>
                  <a:close/>
                </a:path>
              </a:pathLst>
            </a:custGeom>
            <a:solidFill>
              <a:srgbClr val="AAD7D4"/>
            </a:solidFill>
            <a:ln w="28575" cap="sq">
              <a:solidFill>
                <a:srgbClr val="1C2120"/>
              </a:solidFill>
              <a:prstDash val="solid"/>
              <a:miter/>
            </a:ln>
          </p:spPr>
        </p:sp>
        <p:sp>
          <p:nvSpPr>
            <p:cNvPr name="TextBox 8" id="8"/>
            <p:cNvSpPr txBox="true"/>
            <p:nvPr/>
          </p:nvSpPr>
          <p:spPr>
            <a:xfrm>
              <a:off x="0" y="-38100"/>
              <a:ext cx="2563278" cy="110553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0" y="1225386"/>
            <a:ext cx="18121836" cy="2990823"/>
          </a:xfrm>
          <a:prstGeom prst="rect">
            <a:avLst/>
          </a:prstGeom>
        </p:spPr>
        <p:txBody>
          <a:bodyPr anchor="t" rtlCol="false" tIns="0" lIns="0" bIns="0" rIns="0">
            <a:spAutoFit/>
          </a:bodyPr>
          <a:lstStyle/>
          <a:p>
            <a:pPr algn="ctr">
              <a:lnSpc>
                <a:spcPts val="6299"/>
              </a:lnSpc>
            </a:pPr>
            <a:r>
              <a:rPr lang="en-US" b="true" sz="7499" spc="-404">
                <a:solidFill>
                  <a:srgbClr val="1C2120"/>
                </a:solidFill>
                <a:latin typeface="Poppins Semi-Bold"/>
                <a:ea typeface="Poppins Semi-Bold"/>
                <a:cs typeface="Poppins Semi-Bold"/>
                <a:sym typeface="Poppins Semi-Bold"/>
              </a:rPr>
              <a:t>AN ACCELERATED ALTERNATING DIRECTION METHOD OF MULTIPLIER FOR MRI WITH TV REGULARISATION</a:t>
            </a:r>
          </a:p>
          <a:p>
            <a:pPr algn="ctr">
              <a:lnSpc>
                <a:spcPts val="4199"/>
              </a:lnSpc>
            </a:pPr>
          </a:p>
        </p:txBody>
      </p:sp>
      <p:sp>
        <p:nvSpPr>
          <p:cNvPr name="TextBox 10" id="10"/>
          <p:cNvSpPr txBox="true"/>
          <p:nvPr/>
        </p:nvSpPr>
        <p:spPr>
          <a:xfrm rot="0">
            <a:off x="4618996" y="5939430"/>
            <a:ext cx="9306808" cy="2646980"/>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GROUP D-1</a:t>
            </a:r>
          </a:p>
          <a:p>
            <a:pPr algn="ctr">
              <a:lnSpc>
                <a:spcPts val="3445"/>
              </a:lnSpc>
            </a:pPr>
          </a:p>
          <a:p>
            <a:pPr algn="ctr">
              <a:lnSpc>
                <a:spcPts val="3445"/>
              </a:lnSpc>
            </a:pPr>
            <a:r>
              <a:rPr lang="en-US" sz="3445" spc="-68">
                <a:solidFill>
                  <a:srgbClr val="1C2120"/>
                </a:solidFill>
                <a:latin typeface="Poppins"/>
                <a:ea typeface="Poppins"/>
                <a:cs typeface="Poppins"/>
                <a:sym typeface="Poppins"/>
              </a:rPr>
              <a:t>ARJUN - CB.SC.U4AIE24305</a:t>
            </a:r>
          </a:p>
          <a:p>
            <a:pPr algn="ctr">
              <a:lnSpc>
                <a:spcPts val="3445"/>
              </a:lnSpc>
            </a:pPr>
            <a:r>
              <a:rPr lang="en-US" sz="3445" spc="-68">
                <a:solidFill>
                  <a:srgbClr val="1C2120"/>
                </a:solidFill>
                <a:latin typeface="Poppins"/>
                <a:ea typeface="Poppins"/>
                <a:cs typeface="Poppins"/>
                <a:sym typeface="Poppins"/>
              </a:rPr>
              <a:t>DHAKSHIN - CB.SC.U4AIE24313</a:t>
            </a:r>
          </a:p>
          <a:p>
            <a:pPr algn="ctr">
              <a:lnSpc>
                <a:spcPts val="3445"/>
              </a:lnSpc>
            </a:pPr>
            <a:r>
              <a:rPr lang="en-US" sz="3445" spc="-68">
                <a:solidFill>
                  <a:srgbClr val="1C2120"/>
                </a:solidFill>
                <a:latin typeface="Poppins"/>
                <a:ea typeface="Poppins"/>
                <a:cs typeface="Poppins"/>
                <a:sym typeface="Poppins"/>
              </a:rPr>
              <a:t>SANJAY KUMAR S - CB.SC.U4AIE24354</a:t>
            </a:r>
          </a:p>
          <a:p>
            <a:pPr algn="ctr">
              <a:lnSpc>
                <a:spcPts val="3445"/>
              </a:lnSpc>
            </a:pPr>
            <a:r>
              <a:rPr lang="en-US" sz="3445" spc="-68">
                <a:solidFill>
                  <a:srgbClr val="1C2120"/>
                </a:solidFill>
                <a:latin typeface="Poppins"/>
                <a:ea typeface="Poppins"/>
                <a:cs typeface="Poppins"/>
                <a:sym typeface="Poppins"/>
              </a:rPr>
              <a:t>KNEEV S JAIN - CB.SC.U4AIE24364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15896" y="0"/>
            <a:ext cx="11126992" cy="10287000"/>
          </a:xfrm>
          <a:custGeom>
            <a:avLst/>
            <a:gdLst/>
            <a:ahLst/>
            <a:cxnLst/>
            <a:rect r="r" b="b" t="t" l="l"/>
            <a:pathLst>
              <a:path h="10287000" w="11126992">
                <a:moveTo>
                  <a:pt x="0" y="0"/>
                </a:moveTo>
                <a:lnTo>
                  <a:pt x="11126992" y="0"/>
                </a:lnTo>
                <a:lnTo>
                  <a:pt x="11126992" y="10287000"/>
                </a:lnTo>
                <a:lnTo>
                  <a:pt x="0" y="10287000"/>
                </a:lnTo>
                <a:lnTo>
                  <a:pt x="0" y="0"/>
                </a:lnTo>
                <a:close/>
              </a:path>
            </a:pathLst>
          </a:custGeom>
          <a:blipFill>
            <a:blip r:embed="rId2"/>
            <a:stretch>
              <a:fillRect l="0" t="0" r="-38676" b="0"/>
            </a:stretch>
          </a:blipFill>
        </p:spPr>
      </p:sp>
      <p:sp>
        <p:nvSpPr>
          <p:cNvPr name="TextBox 3" id="3"/>
          <p:cNvSpPr txBox="true"/>
          <p:nvPr/>
        </p:nvSpPr>
        <p:spPr>
          <a:xfrm rot="0">
            <a:off x="8538569" y="597015"/>
            <a:ext cx="8011990" cy="1148033"/>
          </a:xfrm>
          <a:prstGeom prst="rect">
            <a:avLst/>
          </a:prstGeom>
        </p:spPr>
        <p:txBody>
          <a:bodyPr anchor="t" rtlCol="false" tIns="0" lIns="0" bIns="0" rIns="0">
            <a:spAutoFit/>
          </a:bodyPr>
          <a:lstStyle/>
          <a:p>
            <a:pPr algn="l">
              <a:lnSpc>
                <a:spcPts val="7935"/>
              </a:lnSpc>
            </a:pPr>
            <a:r>
              <a:rPr lang="en-US" sz="8180" b="true">
                <a:solidFill>
                  <a:srgbClr val="1C2120"/>
                </a:solidFill>
                <a:latin typeface="Poppins Bold"/>
                <a:ea typeface="Poppins Bold"/>
                <a:cs typeface="Poppins Bold"/>
                <a:sym typeface="Poppins Bold"/>
              </a:rPr>
              <a:t>INTRODUCTION </a:t>
            </a:r>
          </a:p>
        </p:txBody>
      </p:sp>
      <p:sp>
        <p:nvSpPr>
          <p:cNvPr name="TextBox 4" id="4"/>
          <p:cNvSpPr txBox="true"/>
          <p:nvPr/>
        </p:nvSpPr>
        <p:spPr>
          <a:xfrm rot="0">
            <a:off x="8538569" y="2090014"/>
            <a:ext cx="9191095" cy="3524089"/>
          </a:xfrm>
          <a:prstGeom prst="rect">
            <a:avLst/>
          </a:prstGeom>
        </p:spPr>
        <p:txBody>
          <a:bodyPr anchor="t" rtlCol="false" tIns="0" lIns="0" bIns="0" rIns="0">
            <a:spAutoFit/>
          </a:bodyPr>
          <a:lstStyle/>
          <a:p>
            <a:pPr algn="l">
              <a:lnSpc>
                <a:spcPts val="2855"/>
              </a:lnSpc>
            </a:pPr>
            <a:r>
              <a:rPr lang="en-US" sz="2115" spc="126">
                <a:solidFill>
                  <a:srgbClr val="000000"/>
                </a:solidFill>
                <a:latin typeface="DM Sans"/>
                <a:ea typeface="DM Sans"/>
                <a:cs typeface="DM Sans"/>
                <a:sym typeface="DM Sans"/>
              </a:rPr>
              <a:t>Magnetic Resonance Imaging (MRI) is one of the most powerful and non-invasive medical imaging techniques used for visualizing detailed internal structures of the human body, especially soft tissues. </a:t>
            </a:r>
          </a:p>
          <a:p>
            <a:pPr algn="l">
              <a:lnSpc>
                <a:spcPts val="2855"/>
              </a:lnSpc>
            </a:pPr>
          </a:p>
          <a:p>
            <a:pPr algn="l" marL="0" indent="0" lvl="0">
              <a:lnSpc>
                <a:spcPts val="2855"/>
              </a:lnSpc>
              <a:spcBef>
                <a:spcPct val="0"/>
              </a:spcBef>
            </a:pPr>
            <a:r>
              <a:rPr lang="en-US" sz="2115" spc="126">
                <a:solidFill>
                  <a:srgbClr val="000000"/>
                </a:solidFill>
                <a:latin typeface="DM Sans"/>
                <a:ea typeface="DM Sans"/>
                <a:cs typeface="DM Sans"/>
                <a:sym typeface="DM Sans"/>
              </a:rPr>
              <a:t>However, one of the major limitations of MRI is its slow data acquisition process, as it requires collecting a large amount of frequency-domain data (called k-space). Long acquisition times can lead to patient discomfort and motion artifacts, reducing image quality.</a:t>
            </a:r>
          </a:p>
        </p:txBody>
      </p:sp>
      <p:sp>
        <p:nvSpPr>
          <p:cNvPr name="TextBox 5" id="5"/>
          <p:cNvSpPr txBox="true"/>
          <p:nvPr/>
        </p:nvSpPr>
        <p:spPr>
          <a:xfrm rot="0">
            <a:off x="8538569" y="5957002"/>
            <a:ext cx="9191095" cy="3524089"/>
          </a:xfrm>
          <a:prstGeom prst="rect">
            <a:avLst/>
          </a:prstGeom>
        </p:spPr>
        <p:txBody>
          <a:bodyPr anchor="t" rtlCol="false" tIns="0" lIns="0" bIns="0" rIns="0">
            <a:spAutoFit/>
          </a:bodyPr>
          <a:lstStyle/>
          <a:p>
            <a:pPr algn="l">
              <a:lnSpc>
                <a:spcPts val="2855"/>
              </a:lnSpc>
            </a:pPr>
            <a:r>
              <a:rPr lang="en-US" sz="2115" spc="126">
                <a:solidFill>
                  <a:srgbClr val="000000"/>
                </a:solidFill>
                <a:latin typeface="DM Sans"/>
                <a:ea typeface="DM Sans"/>
                <a:cs typeface="DM Sans"/>
                <a:sym typeface="DM Sans"/>
              </a:rPr>
              <a:t>To overcome this, researchers use compressed sensing (CS) and optimization-based reconstruction algorithms that allow accurate image recovery from undersampled k-space data, thereby significantly accelerating the MRI scanning process.</a:t>
            </a:r>
          </a:p>
          <a:p>
            <a:pPr algn="l">
              <a:lnSpc>
                <a:spcPts val="2855"/>
              </a:lnSpc>
            </a:pPr>
          </a:p>
          <a:p>
            <a:pPr algn="l" marL="0" indent="0" lvl="0">
              <a:lnSpc>
                <a:spcPts val="2855"/>
              </a:lnSpc>
              <a:spcBef>
                <a:spcPct val="0"/>
              </a:spcBef>
            </a:pPr>
            <a:r>
              <a:rPr lang="en-US" sz="2115" spc="126">
                <a:solidFill>
                  <a:srgbClr val="000000"/>
                </a:solidFill>
                <a:latin typeface="DM Sans"/>
                <a:ea typeface="DM Sans"/>
                <a:cs typeface="DM Sans"/>
                <a:sym typeface="DM Sans"/>
              </a:rPr>
              <a:t> In this project, we focus on implementing Alternating Direction Method of Multipliers (ADMM) algorithm, which uses adaptive parameter updates and optimization strategies for stable and efficient MRI reconstruction with Total Variation (TV) regularization.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083134" y="1616740"/>
            <a:ext cx="6830714" cy="2128485"/>
            <a:chOff x="0" y="0"/>
            <a:chExt cx="2286638" cy="712528"/>
          </a:xfrm>
        </p:grpSpPr>
        <p:sp>
          <p:nvSpPr>
            <p:cNvPr name="Freeform 3" id="3"/>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4" id="4"/>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Freeform 5" id="5"/>
          <p:cNvSpPr/>
          <p:nvPr/>
        </p:nvSpPr>
        <p:spPr>
          <a:xfrm flipH="false" flipV="false" rot="0">
            <a:off x="1028700" y="2680983"/>
            <a:ext cx="7327452" cy="5495589"/>
          </a:xfrm>
          <a:custGeom>
            <a:avLst/>
            <a:gdLst/>
            <a:ahLst/>
            <a:cxnLst/>
            <a:rect r="r" b="b" t="t" l="l"/>
            <a:pathLst>
              <a:path h="5495589" w="7327452">
                <a:moveTo>
                  <a:pt x="0" y="0"/>
                </a:moveTo>
                <a:lnTo>
                  <a:pt x="7327452" y="0"/>
                </a:lnTo>
                <a:lnTo>
                  <a:pt x="7327452" y="5495589"/>
                </a:lnTo>
                <a:lnTo>
                  <a:pt x="0" y="5495589"/>
                </a:lnTo>
                <a:lnTo>
                  <a:pt x="0" y="0"/>
                </a:lnTo>
                <a:close/>
              </a:path>
            </a:pathLst>
          </a:custGeom>
          <a:blipFill>
            <a:blip r:embed="rId2"/>
            <a:stretch>
              <a:fillRect l="0" t="0" r="0" b="0"/>
            </a:stretch>
          </a:blipFill>
        </p:spPr>
      </p:sp>
      <p:sp>
        <p:nvSpPr>
          <p:cNvPr name="TextBox 6" id="6"/>
          <p:cNvSpPr txBox="true"/>
          <p:nvPr/>
        </p:nvSpPr>
        <p:spPr>
          <a:xfrm rot="0">
            <a:off x="899343" y="1000125"/>
            <a:ext cx="8537476" cy="890952"/>
          </a:xfrm>
          <a:prstGeom prst="rect">
            <a:avLst/>
          </a:prstGeom>
        </p:spPr>
        <p:txBody>
          <a:bodyPr anchor="t" rtlCol="false" tIns="0" lIns="0" bIns="0" rIns="0">
            <a:spAutoFit/>
          </a:bodyPr>
          <a:lstStyle/>
          <a:p>
            <a:pPr algn="l">
              <a:lnSpc>
                <a:spcPts val="6467"/>
              </a:lnSpc>
            </a:pPr>
            <a:r>
              <a:rPr lang="en-US" sz="5672" b="true">
                <a:solidFill>
                  <a:srgbClr val="1C2120"/>
                </a:solidFill>
                <a:latin typeface="Poppins Bold"/>
                <a:ea typeface="Poppins Bold"/>
                <a:cs typeface="Poppins Bold"/>
                <a:sym typeface="Poppins Bold"/>
              </a:rPr>
              <a:t>Problem Statement</a:t>
            </a:r>
          </a:p>
        </p:txBody>
      </p:sp>
      <p:sp>
        <p:nvSpPr>
          <p:cNvPr name="TextBox 7" id="7"/>
          <p:cNvSpPr txBox="true"/>
          <p:nvPr/>
        </p:nvSpPr>
        <p:spPr>
          <a:xfrm rot="0">
            <a:off x="10677950" y="1862502"/>
            <a:ext cx="5492874" cy="1712558"/>
          </a:xfrm>
          <a:prstGeom prst="rect">
            <a:avLst/>
          </a:prstGeom>
        </p:spPr>
        <p:txBody>
          <a:bodyPr anchor="t" rtlCol="false" tIns="0" lIns="0" bIns="0" rIns="0">
            <a:spAutoFit/>
          </a:bodyPr>
          <a:lstStyle/>
          <a:p>
            <a:pPr algn="just" marL="0" indent="0" lvl="0">
              <a:lnSpc>
                <a:spcPts val="2734"/>
              </a:lnSpc>
              <a:spcBef>
                <a:spcPct val="0"/>
              </a:spcBef>
            </a:pPr>
            <a:r>
              <a:rPr lang="en-US" sz="2025" spc="32">
                <a:solidFill>
                  <a:srgbClr val="1C2120"/>
                </a:solidFill>
                <a:latin typeface="DM Sans"/>
                <a:ea typeface="DM Sans"/>
                <a:cs typeface="DM Sans"/>
                <a:sym typeface="DM Sans"/>
              </a:rPr>
              <a:t>MRI</a:t>
            </a:r>
            <a:r>
              <a:rPr lang="en-US" sz="2025" spc="32" u="none">
                <a:solidFill>
                  <a:srgbClr val="1C2120"/>
                </a:solidFill>
                <a:latin typeface="DM Sans"/>
                <a:ea typeface="DM Sans"/>
                <a:cs typeface="DM Sans"/>
                <a:sym typeface="DM Sans"/>
              </a:rPr>
              <a:t> scans require long acquisition times because complete k-space sampling is needed to reconstruct high-quality images. However, this leads to patient discomfort and motion artifacts.</a:t>
            </a:r>
          </a:p>
        </p:txBody>
      </p:sp>
      <p:grpSp>
        <p:nvGrpSpPr>
          <p:cNvPr name="Group 8" id="8"/>
          <p:cNvGrpSpPr/>
          <p:nvPr/>
        </p:nvGrpSpPr>
        <p:grpSpPr>
          <a:xfrm rot="0">
            <a:off x="10083134" y="4227669"/>
            <a:ext cx="6830714" cy="2128485"/>
            <a:chOff x="0" y="0"/>
            <a:chExt cx="2286638" cy="712528"/>
          </a:xfrm>
        </p:grpSpPr>
        <p:sp>
          <p:nvSpPr>
            <p:cNvPr name="Freeform 9" id="9"/>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0" id="10"/>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TextBox 11" id="11"/>
          <p:cNvSpPr txBox="true"/>
          <p:nvPr/>
        </p:nvSpPr>
        <p:spPr>
          <a:xfrm rot="0">
            <a:off x="10677950" y="4610393"/>
            <a:ext cx="5492874" cy="1023530"/>
          </a:xfrm>
          <a:prstGeom prst="rect">
            <a:avLst/>
          </a:prstGeom>
        </p:spPr>
        <p:txBody>
          <a:bodyPr anchor="t" rtlCol="false" tIns="0" lIns="0" bIns="0" rIns="0">
            <a:spAutoFit/>
          </a:bodyPr>
          <a:lstStyle/>
          <a:p>
            <a:pPr algn="just" marL="0" indent="0" lvl="0">
              <a:lnSpc>
                <a:spcPts val="2734"/>
              </a:lnSpc>
              <a:spcBef>
                <a:spcPct val="0"/>
              </a:spcBef>
            </a:pPr>
            <a:r>
              <a:rPr lang="en-US" sz="2025" spc="32">
                <a:solidFill>
                  <a:srgbClr val="1C2120"/>
                </a:solidFill>
                <a:latin typeface="DM Sans"/>
                <a:ea typeface="DM Sans"/>
                <a:cs typeface="DM Sans"/>
                <a:sym typeface="DM Sans"/>
              </a:rPr>
              <a:t>Und</a:t>
            </a:r>
            <a:r>
              <a:rPr lang="en-US" sz="2025" spc="32" u="none">
                <a:solidFill>
                  <a:srgbClr val="1C2120"/>
                </a:solidFill>
                <a:latin typeface="DM Sans"/>
                <a:ea typeface="DM Sans"/>
                <a:cs typeface="DM Sans"/>
                <a:sym typeface="DM Sans"/>
              </a:rPr>
              <a:t>ersampling k-space can accelerate the scan but introduces artifacts and loss of detail.</a:t>
            </a:r>
          </a:p>
        </p:txBody>
      </p:sp>
      <p:grpSp>
        <p:nvGrpSpPr>
          <p:cNvPr name="Group 12" id="12"/>
          <p:cNvGrpSpPr/>
          <p:nvPr/>
        </p:nvGrpSpPr>
        <p:grpSpPr>
          <a:xfrm rot="0">
            <a:off x="10083134" y="6841929"/>
            <a:ext cx="6830714" cy="2128485"/>
            <a:chOff x="0" y="0"/>
            <a:chExt cx="2286638" cy="712528"/>
          </a:xfrm>
        </p:grpSpPr>
        <p:sp>
          <p:nvSpPr>
            <p:cNvPr name="Freeform 13" id="13"/>
            <p:cNvSpPr/>
            <p:nvPr/>
          </p:nvSpPr>
          <p:spPr>
            <a:xfrm flipH="false" flipV="false" rot="0">
              <a:off x="0" y="0"/>
              <a:ext cx="2286638" cy="712528"/>
            </a:xfrm>
            <a:custGeom>
              <a:avLst/>
              <a:gdLst/>
              <a:ahLst/>
              <a:cxnLst/>
              <a:rect r="r" b="b" t="t" l="l"/>
              <a:pathLst>
                <a:path h="712528" w="2286638">
                  <a:moveTo>
                    <a:pt x="56670" y="0"/>
                  </a:moveTo>
                  <a:lnTo>
                    <a:pt x="2229968" y="0"/>
                  </a:lnTo>
                  <a:cubicBezTo>
                    <a:pt x="2261266" y="0"/>
                    <a:pt x="2286638" y="25372"/>
                    <a:pt x="2286638" y="56670"/>
                  </a:cubicBezTo>
                  <a:lnTo>
                    <a:pt x="2286638" y="655858"/>
                  </a:lnTo>
                  <a:cubicBezTo>
                    <a:pt x="2286638" y="670888"/>
                    <a:pt x="2280667" y="685302"/>
                    <a:pt x="2270040" y="695930"/>
                  </a:cubicBezTo>
                  <a:cubicBezTo>
                    <a:pt x="2259412" y="706557"/>
                    <a:pt x="2244998" y="712528"/>
                    <a:pt x="2229968" y="712528"/>
                  </a:cubicBezTo>
                  <a:lnTo>
                    <a:pt x="56670" y="712528"/>
                  </a:lnTo>
                  <a:cubicBezTo>
                    <a:pt x="25372" y="712528"/>
                    <a:pt x="0" y="687156"/>
                    <a:pt x="0" y="655858"/>
                  </a:cubicBezTo>
                  <a:lnTo>
                    <a:pt x="0" y="56670"/>
                  </a:lnTo>
                  <a:cubicBezTo>
                    <a:pt x="0" y="41640"/>
                    <a:pt x="5971" y="27226"/>
                    <a:pt x="16598" y="16598"/>
                  </a:cubicBezTo>
                  <a:cubicBezTo>
                    <a:pt x="27226" y="5971"/>
                    <a:pt x="41640" y="0"/>
                    <a:pt x="56670" y="0"/>
                  </a:cubicBezTo>
                  <a:close/>
                </a:path>
              </a:pathLst>
            </a:custGeom>
            <a:solidFill>
              <a:srgbClr val="AAD7D4"/>
            </a:solidFill>
          </p:spPr>
        </p:sp>
        <p:sp>
          <p:nvSpPr>
            <p:cNvPr name="TextBox 14" id="14"/>
            <p:cNvSpPr txBox="true"/>
            <p:nvPr/>
          </p:nvSpPr>
          <p:spPr>
            <a:xfrm>
              <a:off x="0" y="85725"/>
              <a:ext cx="2286638" cy="626803"/>
            </a:xfrm>
            <a:prstGeom prst="rect">
              <a:avLst/>
            </a:prstGeom>
          </p:spPr>
          <p:txBody>
            <a:bodyPr anchor="ctr" rtlCol="false" tIns="50800" lIns="50800" bIns="50800" rIns="50800"/>
            <a:lstStyle/>
            <a:p>
              <a:pPr algn="ctr">
                <a:lnSpc>
                  <a:spcPts val="1925"/>
                </a:lnSpc>
              </a:pPr>
            </a:p>
          </p:txBody>
        </p:sp>
      </p:grpSp>
      <p:sp>
        <p:nvSpPr>
          <p:cNvPr name="TextBox 15" id="15"/>
          <p:cNvSpPr txBox="true"/>
          <p:nvPr/>
        </p:nvSpPr>
        <p:spPr>
          <a:xfrm rot="0">
            <a:off x="10677950" y="7224653"/>
            <a:ext cx="5492874" cy="1368044"/>
          </a:xfrm>
          <a:prstGeom prst="rect">
            <a:avLst/>
          </a:prstGeom>
        </p:spPr>
        <p:txBody>
          <a:bodyPr anchor="t" rtlCol="false" tIns="0" lIns="0" bIns="0" rIns="0">
            <a:spAutoFit/>
          </a:bodyPr>
          <a:lstStyle/>
          <a:p>
            <a:pPr algn="just" marL="0" indent="0" lvl="0">
              <a:lnSpc>
                <a:spcPts val="2734"/>
              </a:lnSpc>
              <a:spcBef>
                <a:spcPct val="0"/>
              </a:spcBef>
            </a:pPr>
            <a:r>
              <a:rPr lang="en-US" sz="2025" spc="32">
                <a:solidFill>
                  <a:srgbClr val="1C2120"/>
                </a:solidFill>
                <a:latin typeface="DM Sans"/>
                <a:ea typeface="DM Sans"/>
                <a:cs typeface="DM Sans"/>
                <a:sym typeface="DM Sans"/>
              </a:rPr>
              <a:t>Th</a:t>
            </a:r>
            <a:r>
              <a:rPr lang="en-US" sz="2025" spc="32" u="none">
                <a:solidFill>
                  <a:srgbClr val="1C2120"/>
                </a:solidFill>
                <a:latin typeface="DM Sans"/>
                <a:ea typeface="DM Sans"/>
                <a:cs typeface="DM Sans"/>
                <a:sym typeface="DM Sans"/>
              </a:rPr>
              <a:t>e problem is to reconstruct high-quality MRI images from undersampled k-space data while preserving structural information and reducing noise.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127928" y="1214037"/>
            <a:ext cx="6583691" cy="6874491"/>
          </a:xfrm>
          <a:custGeom>
            <a:avLst/>
            <a:gdLst/>
            <a:ahLst/>
            <a:cxnLst/>
            <a:rect r="r" b="b" t="t" l="l"/>
            <a:pathLst>
              <a:path h="6874491" w="6583691">
                <a:moveTo>
                  <a:pt x="0" y="0"/>
                </a:moveTo>
                <a:lnTo>
                  <a:pt x="6583692" y="0"/>
                </a:lnTo>
                <a:lnTo>
                  <a:pt x="6583692" y="6874490"/>
                </a:lnTo>
                <a:lnTo>
                  <a:pt x="0" y="6874490"/>
                </a:lnTo>
                <a:lnTo>
                  <a:pt x="0" y="0"/>
                </a:lnTo>
                <a:close/>
              </a:path>
            </a:pathLst>
          </a:custGeom>
          <a:blipFill>
            <a:blip r:embed="rId2"/>
            <a:stretch>
              <a:fillRect l="0" t="0" r="0" b="0"/>
            </a:stretch>
          </a:blipFill>
        </p:spPr>
      </p:sp>
      <p:sp>
        <p:nvSpPr>
          <p:cNvPr name="TextBox 3" id="3"/>
          <p:cNvSpPr txBox="true"/>
          <p:nvPr/>
        </p:nvSpPr>
        <p:spPr>
          <a:xfrm rot="0">
            <a:off x="570711" y="768772"/>
            <a:ext cx="9246467" cy="991536"/>
          </a:xfrm>
          <a:prstGeom prst="rect">
            <a:avLst/>
          </a:prstGeom>
        </p:spPr>
        <p:txBody>
          <a:bodyPr anchor="t" rtlCol="false" tIns="0" lIns="0" bIns="0" rIns="0">
            <a:spAutoFit/>
          </a:bodyPr>
          <a:lstStyle/>
          <a:p>
            <a:pPr algn="l">
              <a:lnSpc>
                <a:spcPts val="7265"/>
              </a:lnSpc>
            </a:pPr>
            <a:r>
              <a:rPr lang="en-US" sz="6372" b="true">
                <a:solidFill>
                  <a:srgbClr val="1C2120"/>
                </a:solidFill>
                <a:latin typeface="Poppins Bold"/>
                <a:ea typeface="Poppins Bold"/>
                <a:cs typeface="Poppins Bold"/>
                <a:sym typeface="Poppins Bold"/>
              </a:rPr>
              <a:t>DATASET DESCRIPTION</a:t>
            </a:r>
          </a:p>
        </p:txBody>
      </p:sp>
      <p:sp>
        <p:nvSpPr>
          <p:cNvPr name="TextBox 4" id="4"/>
          <p:cNvSpPr txBox="true"/>
          <p:nvPr/>
        </p:nvSpPr>
        <p:spPr>
          <a:xfrm rot="0">
            <a:off x="1028700" y="3400194"/>
            <a:ext cx="6613419" cy="2817262"/>
          </a:xfrm>
          <a:prstGeom prst="rect">
            <a:avLst/>
          </a:prstGeom>
        </p:spPr>
        <p:txBody>
          <a:bodyPr anchor="t" rtlCol="false" tIns="0" lIns="0" bIns="0" rIns="0">
            <a:spAutoFit/>
          </a:bodyPr>
          <a:lstStyle/>
          <a:p>
            <a:pPr algn="l" marL="406496" indent="-203248" lvl="1">
              <a:lnSpc>
                <a:spcPts val="2541"/>
              </a:lnSpc>
              <a:spcBef>
                <a:spcPct val="0"/>
              </a:spcBef>
              <a:buFont typeface="Arial"/>
              <a:buChar char="•"/>
            </a:pPr>
            <a:r>
              <a:rPr lang="en-US" sz="1882" spc="112">
                <a:solidFill>
                  <a:srgbClr val="000000"/>
                </a:solidFill>
                <a:latin typeface="DM Sans"/>
                <a:ea typeface="DM Sans"/>
                <a:cs typeface="DM Sans"/>
                <a:sym typeface="DM Sans"/>
              </a:rPr>
              <a:t>Datas</a:t>
            </a:r>
            <a:r>
              <a:rPr lang="en-US" sz="1882" spc="112" u="none">
                <a:solidFill>
                  <a:srgbClr val="000000"/>
                </a:solidFill>
                <a:latin typeface="DM Sans"/>
                <a:ea typeface="DM Sans"/>
                <a:cs typeface="DM Sans"/>
                <a:sym typeface="DM Sans"/>
              </a:rPr>
              <a:t>et used: Modified Shepp–Logan Phantom</a:t>
            </a:r>
          </a:p>
          <a:p>
            <a:pPr algn="l" marL="406496" indent="-203248" lvl="1">
              <a:lnSpc>
                <a:spcPts val="2541"/>
              </a:lnSpc>
              <a:spcBef>
                <a:spcPct val="0"/>
              </a:spcBef>
              <a:buFont typeface="Arial"/>
              <a:buChar char="•"/>
            </a:pPr>
            <a:r>
              <a:rPr lang="en-US" sz="1882" spc="112" u="none">
                <a:solidFill>
                  <a:srgbClr val="000000"/>
                </a:solidFill>
                <a:latin typeface="DM Sans"/>
                <a:ea typeface="DM Sans"/>
                <a:cs typeface="DM Sans"/>
                <a:sym typeface="DM Sans"/>
              </a:rPr>
              <a:t>Type: Synthetic MRI phantom</a:t>
            </a:r>
          </a:p>
          <a:p>
            <a:pPr algn="l" marL="406496" indent="-203248" lvl="1">
              <a:lnSpc>
                <a:spcPts val="2541"/>
              </a:lnSpc>
              <a:spcBef>
                <a:spcPct val="0"/>
              </a:spcBef>
              <a:buFont typeface="Arial"/>
              <a:buChar char="•"/>
            </a:pPr>
            <a:r>
              <a:rPr lang="en-US" sz="1882" spc="112" u="none">
                <a:solidFill>
                  <a:srgbClr val="000000"/>
                </a:solidFill>
                <a:latin typeface="DM Sans"/>
                <a:ea typeface="DM Sans"/>
                <a:cs typeface="DM Sans"/>
                <a:sym typeface="DM Sans"/>
              </a:rPr>
              <a:t>Size: 256 × 256 pixels</a:t>
            </a:r>
          </a:p>
          <a:p>
            <a:pPr algn="l" marL="406496" indent="-203248" lvl="1">
              <a:lnSpc>
                <a:spcPts val="2541"/>
              </a:lnSpc>
              <a:spcBef>
                <a:spcPct val="0"/>
              </a:spcBef>
              <a:buFont typeface="Arial"/>
              <a:buChar char="•"/>
            </a:pPr>
            <a:r>
              <a:rPr lang="en-US" sz="1882" spc="112" u="none">
                <a:solidFill>
                  <a:srgbClr val="000000"/>
                </a:solidFill>
                <a:latin typeface="DM Sans"/>
                <a:ea typeface="DM Sans"/>
                <a:cs typeface="DM Sans"/>
                <a:sym typeface="DM Sans"/>
              </a:rPr>
              <a:t>Represents: Simplified model of the human head with varying tissue densities.</a:t>
            </a:r>
          </a:p>
          <a:p>
            <a:pPr algn="l" marL="406496" indent="-203248" lvl="1">
              <a:lnSpc>
                <a:spcPts val="2541"/>
              </a:lnSpc>
              <a:spcBef>
                <a:spcPct val="0"/>
              </a:spcBef>
              <a:buFont typeface="Arial"/>
              <a:buChar char="•"/>
            </a:pPr>
            <a:r>
              <a:rPr lang="en-US" sz="1882" spc="112" u="none">
                <a:solidFill>
                  <a:srgbClr val="000000"/>
                </a:solidFill>
                <a:latin typeface="DM Sans"/>
                <a:ea typeface="DM Sans"/>
                <a:cs typeface="DM Sans"/>
                <a:sym typeface="DM Sans"/>
              </a:rPr>
              <a:t>Used widely for testing MRI reconstruction algorithms.</a:t>
            </a:r>
          </a:p>
          <a:p>
            <a:pPr algn="l" marL="0" indent="0" lvl="0">
              <a:lnSpc>
                <a:spcPts val="2541"/>
              </a:lnSpc>
              <a:spcBef>
                <a:spcPct val="0"/>
              </a:spcBef>
            </a:pPr>
          </a:p>
          <a:p>
            <a:pPr algn="l" marL="0" indent="0" lvl="0">
              <a:lnSpc>
                <a:spcPts val="2541"/>
              </a:lnSpc>
              <a:spcBef>
                <a:spcPct val="0"/>
              </a:spcBef>
            </a:pPr>
          </a:p>
        </p:txBody>
      </p:sp>
      <p:sp>
        <p:nvSpPr>
          <p:cNvPr name="TextBox 5" id="5"/>
          <p:cNvSpPr txBox="true"/>
          <p:nvPr/>
        </p:nvSpPr>
        <p:spPr>
          <a:xfrm rot="0">
            <a:off x="1028700" y="6431513"/>
            <a:ext cx="7704766" cy="2190089"/>
          </a:xfrm>
          <a:prstGeom prst="rect">
            <a:avLst/>
          </a:prstGeom>
        </p:spPr>
        <p:txBody>
          <a:bodyPr anchor="t" rtlCol="false" tIns="0" lIns="0" bIns="0" rIns="0">
            <a:spAutoFit/>
          </a:bodyPr>
          <a:lstStyle/>
          <a:p>
            <a:pPr algn="l">
              <a:lnSpc>
                <a:spcPts val="2961"/>
              </a:lnSpc>
              <a:spcBef>
                <a:spcPct val="0"/>
              </a:spcBef>
            </a:pPr>
            <a:r>
              <a:rPr lang="en-US" sz="2193" spc="131">
                <a:solidFill>
                  <a:srgbClr val="000000"/>
                </a:solidFill>
                <a:latin typeface="DM Sans"/>
                <a:ea typeface="DM Sans"/>
                <a:cs typeface="DM Sans"/>
                <a:sym typeface="DM Sans"/>
              </a:rPr>
              <a:t>The Shepp–Logan Phantom is a synthetic image that simulates a cross-sectional view of the human brain, commonly used as a benchmark in MRI reconstruction research. It consists of multiple ellipses representing different tissues with varying intensities and contrasts.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AD7D4"/>
        </a:solidFill>
      </p:bgPr>
    </p:bg>
    <p:spTree>
      <p:nvGrpSpPr>
        <p:cNvPr id="1" name=""/>
        <p:cNvGrpSpPr/>
        <p:nvPr/>
      </p:nvGrpSpPr>
      <p:grpSpPr>
        <a:xfrm>
          <a:off x="0" y="0"/>
          <a:ext cx="0" cy="0"/>
          <a:chOff x="0" y="0"/>
          <a:chExt cx="0" cy="0"/>
        </a:xfrm>
      </p:grpSpPr>
      <p:sp>
        <p:nvSpPr>
          <p:cNvPr name="Freeform 2" id="2"/>
          <p:cNvSpPr/>
          <p:nvPr/>
        </p:nvSpPr>
        <p:spPr>
          <a:xfrm flipH="false" flipV="false" rot="0">
            <a:off x="16600" y="2445283"/>
            <a:ext cx="10834162" cy="6933864"/>
          </a:xfrm>
          <a:custGeom>
            <a:avLst/>
            <a:gdLst/>
            <a:ahLst/>
            <a:cxnLst/>
            <a:rect r="r" b="b" t="t" l="l"/>
            <a:pathLst>
              <a:path h="6933864" w="10834162">
                <a:moveTo>
                  <a:pt x="0" y="0"/>
                </a:moveTo>
                <a:lnTo>
                  <a:pt x="10834162" y="0"/>
                </a:lnTo>
                <a:lnTo>
                  <a:pt x="10834162" y="6933864"/>
                </a:lnTo>
                <a:lnTo>
                  <a:pt x="0" y="6933864"/>
                </a:lnTo>
                <a:lnTo>
                  <a:pt x="0" y="0"/>
                </a:lnTo>
                <a:close/>
              </a:path>
            </a:pathLst>
          </a:custGeom>
          <a:blipFill>
            <a:blip r:embed="rId2"/>
            <a:stretch>
              <a:fillRect l="0" t="0" r="0" b="0"/>
            </a:stretch>
          </a:blipFill>
        </p:spPr>
      </p:sp>
      <p:sp>
        <p:nvSpPr>
          <p:cNvPr name="Freeform 3" id="3"/>
          <p:cNvSpPr/>
          <p:nvPr/>
        </p:nvSpPr>
        <p:spPr>
          <a:xfrm flipH="false" flipV="false" rot="0">
            <a:off x="9478577" y="2445283"/>
            <a:ext cx="8969718" cy="2668491"/>
          </a:xfrm>
          <a:custGeom>
            <a:avLst/>
            <a:gdLst/>
            <a:ahLst/>
            <a:cxnLst/>
            <a:rect r="r" b="b" t="t" l="l"/>
            <a:pathLst>
              <a:path h="2668491" w="8969718">
                <a:moveTo>
                  <a:pt x="0" y="0"/>
                </a:moveTo>
                <a:lnTo>
                  <a:pt x="8969717" y="0"/>
                </a:lnTo>
                <a:lnTo>
                  <a:pt x="8969717" y="2668491"/>
                </a:lnTo>
                <a:lnTo>
                  <a:pt x="0" y="2668491"/>
                </a:lnTo>
                <a:lnTo>
                  <a:pt x="0" y="0"/>
                </a:lnTo>
                <a:close/>
              </a:path>
            </a:pathLst>
          </a:custGeom>
          <a:blipFill>
            <a:blip r:embed="rId3"/>
            <a:stretch>
              <a:fillRect l="0" t="0" r="0" b="0"/>
            </a:stretch>
          </a:blipFill>
        </p:spPr>
      </p:sp>
      <p:grpSp>
        <p:nvGrpSpPr>
          <p:cNvPr name="Group 4" id="4"/>
          <p:cNvGrpSpPr/>
          <p:nvPr/>
        </p:nvGrpSpPr>
        <p:grpSpPr>
          <a:xfrm rot="0">
            <a:off x="10690467" y="4992928"/>
            <a:ext cx="7597533" cy="4386219"/>
            <a:chOff x="0" y="0"/>
            <a:chExt cx="2000996" cy="1155218"/>
          </a:xfrm>
        </p:grpSpPr>
        <p:sp>
          <p:nvSpPr>
            <p:cNvPr name="Freeform 5" id="5"/>
            <p:cNvSpPr/>
            <p:nvPr/>
          </p:nvSpPr>
          <p:spPr>
            <a:xfrm flipH="false" flipV="false" rot="0">
              <a:off x="0" y="0"/>
              <a:ext cx="2000996" cy="1155218"/>
            </a:xfrm>
            <a:custGeom>
              <a:avLst/>
              <a:gdLst/>
              <a:ahLst/>
              <a:cxnLst/>
              <a:rect r="r" b="b" t="t" l="l"/>
              <a:pathLst>
                <a:path h="1155218" w="2000996">
                  <a:moveTo>
                    <a:pt x="0" y="0"/>
                  </a:moveTo>
                  <a:lnTo>
                    <a:pt x="2000996" y="0"/>
                  </a:lnTo>
                  <a:lnTo>
                    <a:pt x="2000996" y="1155218"/>
                  </a:lnTo>
                  <a:lnTo>
                    <a:pt x="0" y="1155218"/>
                  </a:lnTo>
                  <a:close/>
                </a:path>
              </a:pathLst>
            </a:custGeom>
            <a:solidFill>
              <a:srgbClr val="121212"/>
            </a:solidFill>
          </p:spPr>
        </p:sp>
        <p:sp>
          <p:nvSpPr>
            <p:cNvPr name="TextBox 6" id="6"/>
            <p:cNvSpPr txBox="true"/>
            <p:nvPr/>
          </p:nvSpPr>
          <p:spPr>
            <a:xfrm>
              <a:off x="0" y="-38100"/>
              <a:ext cx="2000996" cy="1193318"/>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3530395" y="584498"/>
            <a:ext cx="10627472" cy="1739938"/>
          </a:xfrm>
          <a:prstGeom prst="rect">
            <a:avLst/>
          </a:prstGeom>
        </p:spPr>
        <p:txBody>
          <a:bodyPr anchor="t" rtlCol="false" tIns="0" lIns="0" bIns="0" rIns="0">
            <a:spAutoFit/>
          </a:bodyPr>
          <a:lstStyle/>
          <a:p>
            <a:pPr algn="ctr">
              <a:lnSpc>
                <a:spcPts val="6655"/>
              </a:lnSpc>
            </a:pPr>
            <a:r>
              <a:rPr lang="en-US" b="true" sz="5838">
                <a:solidFill>
                  <a:srgbClr val="000000"/>
                </a:solidFill>
                <a:latin typeface="Poppins Bold"/>
                <a:ea typeface="Poppins Bold"/>
                <a:cs typeface="Poppins Bold"/>
                <a:sym typeface="Poppins Bold"/>
              </a:rPr>
              <a:t>Reconstruction using ADMM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19246" y="2613313"/>
            <a:ext cx="5808732" cy="5859231"/>
          </a:xfrm>
          <a:custGeom>
            <a:avLst/>
            <a:gdLst/>
            <a:ahLst/>
            <a:cxnLst/>
            <a:rect r="r" b="b" t="t" l="l"/>
            <a:pathLst>
              <a:path h="5859231" w="5808732">
                <a:moveTo>
                  <a:pt x="0" y="0"/>
                </a:moveTo>
                <a:lnTo>
                  <a:pt x="5808733" y="0"/>
                </a:lnTo>
                <a:lnTo>
                  <a:pt x="5808733" y="5859231"/>
                </a:lnTo>
                <a:lnTo>
                  <a:pt x="0" y="5859231"/>
                </a:lnTo>
                <a:lnTo>
                  <a:pt x="0" y="0"/>
                </a:lnTo>
                <a:close/>
              </a:path>
            </a:pathLst>
          </a:custGeom>
          <a:blipFill>
            <a:blip r:embed="rId2"/>
            <a:stretch>
              <a:fillRect l="0" t="-4307" r="-1439" b="0"/>
            </a:stretch>
          </a:blipFill>
        </p:spPr>
      </p:sp>
      <p:sp>
        <p:nvSpPr>
          <p:cNvPr name="Freeform 3" id="3"/>
          <p:cNvSpPr/>
          <p:nvPr/>
        </p:nvSpPr>
        <p:spPr>
          <a:xfrm flipH="false" flipV="false" rot="0">
            <a:off x="11606785" y="2613313"/>
            <a:ext cx="5890105" cy="5872354"/>
          </a:xfrm>
          <a:custGeom>
            <a:avLst/>
            <a:gdLst/>
            <a:ahLst/>
            <a:cxnLst/>
            <a:rect r="r" b="b" t="t" l="l"/>
            <a:pathLst>
              <a:path h="5872354" w="5890105">
                <a:moveTo>
                  <a:pt x="0" y="0"/>
                </a:moveTo>
                <a:lnTo>
                  <a:pt x="5890105" y="0"/>
                </a:lnTo>
                <a:lnTo>
                  <a:pt x="5890105" y="5872355"/>
                </a:lnTo>
                <a:lnTo>
                  <a:pt x="0" y="5872355"/>
                </a:lnTo>
                <a:lnTo>
                  <a:pt x="0" y="0"/>
                </a:lnTo>
                <a:close/>
              </a:path>
            </a:pathLst>
          </a:custGeom>
          <a:blipFill>
            <a:blip r:embed="rId3"/>
            <a:stretch>
              <a:fillRect l="0" t="-4040" r="0" b="0"/>
            </a:stretch>
          </a:blipFill>
        </p:spPr>
      </p:sp>
      <p:sp>
        <p:nvSpPr>
          <p:cNvPr name="TextBox 4" id="4"/>
          <p:cNvSpPr txBox="true"/>
          <p:nvPr/>
        </p:nvSpPr>
        <p:spPr>
          <a:xfrm rot="0">
            <a:off x="0" y="1254719"/>
            <a:ext cx="9578208" cy="947854"/>
          </a:xfrm>
          <a:prstGeom prst="rect">
            <a:avLst/>
          </a:prstGeom>
        </p:spPr>
        <p:txBody>
          <a:bodyPr anchor="t" rtlCol="false" tIns="0" lIns="0" bIns="0" rIns="0">
            <a:spAutoFit/>
          </a:bodyPr>
          <a:lstStyle/>
          <a:p>
            <a:pPr algn="ctr">
              <a:lnSpc>
                <a:spcPts val="6596"/>
              </a:lnSpc>
            </a:pPr>
            <a:r>
              <a:rPr lang="en-US" b="true" sz="6800">
                <a:solidFill>
                  <a:srgbClr val="1C2120"/>
                </a:solidFill>
                <a:latin typeface="Poppins Bold"/>
                <a:ea typeface="Poppins Bold"/>
                <a:cs typeface="Poppins Bold"/>
                <a:sym typeface="Poppins Bold"/>
              </a:rPr>
              <a:t>Sampling Mask</a:t>
            </a:r>
          </a:p>
        </p:txBody>
      </p:sp>
      <p:sp>
        <p:nvSpPr>
          <p:cNvPr name="TextBox 5" id="5"/>
          <p:cNvSpPr txBox="true"/>
          <p:nvPr/>
        </p:nvSpPr>
        <p:spPr>
          <a:xfrm rot="0">
            <a:off x="9597970" y="1254719"/>
            <a:ext cx="9578208" cy="947854"/>
          </a:xfrm>
          <a:prstGeom prst="rect">
            <a:avLst/>
          </a:prstGeom>
        </p:spPr>
        <p:txBody>
          <a:bodyPr anchor="t" rtlCol="false" tIns="0" lIns="0" bIns="0" rIns="0">
            <a:spAutoFit/>
          </a:bodyPr>
          <a:lstStyle/>
          <a:p>
            <a:pPr algn="ctr">
              <a:lnSpc>
                <a:spcPts val="6596"/>
              </a:lnSpc>
            </a:pPr>
            <a:r>
              <a:rPr lang="en-US" b="true" sz="6800">
                <a:solidFill>
                  <a:srgbClr val="1C2120"/>
                </a:solidFill>
                <a:latin typeface="Poppins Bold"/>
                <a:ea typeface="Poppins Bold"/>
                <a:cs typeface="Poppins Bold"/>
                <a:sym typeface="Poppins Bold"/>
              </a:rPr>
              <a:t>Zero Filled Recon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167518"/>
            <a:ext cx="9189087" cy="5734455"/>
          </a:xfrm>
          <a:custGeom>
            <a:avLst/>
            <a:gdLst/>
            <a:ahLst/>
            <a:cxnLst/>
            <a:rect r="r" b="b" t="t" l="l"/>
            <a:pathLst>
              <a:path h="5734455" w="9189087">
                <a:moveTo>
                  <a:pt x="0" y="0"/>
                </a:moveTo>
                <a:lnTo>
                  <a:pt x="9189087" y="0"/>
                </a:lnTo>
                <a:lnTo>
                  <a:pt x="9189087" y="5734455"/>
                </a:lnTo>
                <a:lnTo>
                  <a:pt x="0" y="5734455"/>
                </a:lnTo>
                <a:lnTo>
                  <a:pt x="0" y="0"/>
                </a:lnTo>
                <a:close/>
              </a:path>
            </a:pathLst>
          </a:custGeom>
          <a:blipFill>
            <a:blip r:embed="rId2"/>
            <a:stretch>
              <a:fillRect l="0" t="0" r="0" b="0"/>
            </a:stretch>
          </a:blipFill>
        </p:spPr>
      </p:sp>
      <p:sp>
        <p:nvSpPr>
          <p:cNvPr name="Freeform 3" id="3"/>
          <p:cNvSpPr/>
          <p:nvPr/>
        </p:nvSpPr>
        <p:spPr>
          <a:xfrm flipH="false" flipV="false" rot="0">
            <a:off x="9204971" y="6984111"/>
            <a:ext cx="10364206" cy="1917862"/>
          </a:xfrm>
          <a:custGeom>
            <a:avLst/>
            <a:gdLst/>
            <a:ahLst/>
            <a:cxnLst/>
            <a:rect r="r" b="b" t="t" l="l"/>
            <a:pathLst>
              <a:path h="1917862" w="10364206">
                <a:moveTo>
                  <a:pt x="0" y="0"/>
                </a:moveTo>
                <a:lnTo>
                  <a:pt x="10364206" y="0"/>
                </a:lnTo>
                <a:lnTo>
                  <a:pt x="10364206" y="1917862"/>
                </a:lnTo>
                <a:lnTo>
                  <a:pt x="0" y="1917862"/>
                </a:lnTo>
                <a:lnTo>
                  <a:pt x="0" y="0"/>
                </a:lnTo>
                <a:close/>
              </a:path>
            </a:pathLst>
          </a:custGeom>
          <a:blipFill>
            <a:blip r:embed="rId3"/>
            <a:stretch>
              <a:fillRect l="0" t="0" r="0" b="0"/>
            </a:stretch>
          </a:blipFill>
        </p:spPr>
      </p:sp>
      <p:grpSp>
        <p:nvGrpSpPr>
          <p:cNvPr name="Group 4" id="4"/>
          <p:cNvGrpSpPr/>
          <p:nvPr/>
        </p:nvGrpSpPr>
        <p:grpSpPr>
          <a:xfrm rot="0">
            <a:off x="10066728" y="3167518"/>
            <a:ext cx="8312726" cy="3856499"/>
            <a:chOff x="0" y="0"/>
            <a:chExt cx="2189360" cy="1015703"/>
          </a:xfrm>
        </p:grpSpPr>
        <p:sp>
          <p:nvSpPr>
            <p:cNvPr name="Freeform 5" id="5"/>
            <p:cNvSpPr/>
            <p:nvPr/>
          </p:nvSpPr>
          <p:spPr>
            <a:xfrm flipH="false" flipV="false" rot="0">
              <a:off x="0" y="0"/>
              <a:ext cx="2189360" cy="1015703"/>
            </a:xfrm>
            <a:custGeom>
              <a:avLst/>
              <a:gdLst/>
              <a:ahLst/>
              <a:cxnLst/>
              <a:rect r="r" b="b" t="t" l="l"/>
              <a:pathLst>
                <a:path h="1015703" w="2189360">
                  <a:moveTo>
                    <a:pt x="0" y="0"/>
                  </a:moveTo>
                  <a:lnTo>
                    <a:pt x="2189360" y="0"/>
                  </a:lnTo>
                  <a:lnTo>
                    <a:pt x="2189360" y="1015703"/>
                  </a:lnTo>
                  <a:lnTo>
                    <a:pt x="0" y="1015703"/>
                  </a:lnTo>
                  <a:close/>
                </a:path>
              </a:pathLst>
            </a:custGeom>
            <a:solidFill>
              <a:srgbClr val="121212"/>
            </a:solidFill>
          </p:spPr>
        </p:sp>
        <p:sp>
          <p:nvSpPr>
            <p:cNvPr name="TextBox 6" id="6"/>
            <p:cNvSpPr txBox="true"/>
            <p:nvPr/>
          </p:nvSpPr>
          <p:spPr>
            <a:xfrm>
              <a:off x="0" y="85725"/>
              <a:ext cx="2189360" cy="929978"/>
            </a:xfrm>
            <a:prstGeom prst="rect">
              <a:avLst/>
            </a:prstGeom>
          </p:spPr>
          <p:txBody>
            <a:bodyPr anchor="ctr" rtlCol="false" tIns="50800" lIns="50800" bIns="50800" rIns="50800"/>
            <a:lstStyle/>
            <a:p>
              <a:pPr algn="ctr">
                <a:lnSpc>
                  <a:spcPts val="1925"/>
                </a:lnSpc>
              </a:pPr>
            </a:p>
          </p:txBody>
        </p:sp>
      </p:grpSp>
      <p:sp>
        <p:nvSpPr>
          <p:cNvPr name="TextBox 7" id="7"/>
          <p:cNvSpPr txBox="true"/>
          <p:nvPr/>
        </p:nvSpPr>
        <p:spPr>
          <a:xfrm rot="0">
            <a:off x="0" y="1254719"/>
            <a:ext cx="9578208" cy="947854"/>
          </a:xfrm>
          <a:prstGeom prst="rect">
            <a:avLst/>
          </a:prstGeom>
        </p:spPr>
        <p:txBody>
          <a:bodyPr anchor="t" rtlCol="false" tIns="0" lIns="0" bIns="0" rIns="0">
            <a:spAutoFit/>
          </a:bodyPr>
          <a:lstStyle/>
          <a:p>
            <a:pPr algn="ctr">
              <a:lnSpc>
                <a:spcPts val="6596"/>
              </a:lnSpc>
            </a:pPr>
            <a:r>
              <a:rPr lang="en-US" b="true" sz="6800">
                <a:solidFill>
                  <a:srgbClr val="1C2120"/>
                </a:solidFill>
                <a:latin typeface="Poppins Bold"/>
                <a:ea typeface="Poppins Bold"/>
                <a:cs typeface="Poppins Bold"/>
                <a:sym typeface="Poppins Bold"/>
              </a:rPr>
              <a:t>S-update</a:t>
            </a:r>
          </a:p>
        </p:txBody>
      </p:sp>
      <p:sp>
        <p:nvSpPr>
          <p:cNvPr name="TextBox 8" id="8"/>
          <p:cNvSpPr txBox="true"/>
          <p:nvPr/>
        </p:nvSpPr>
        <p:spPr>
          <a:xfrm rot="0">
            <a:off x="9597970" y="1254719"/>
            <a:ext cx="9578208" cy="947854"/>
          </a:xfrm>
          <a:prstGeom prst="rect">
            <a:avLst/>
          </a:prstGeom>
        </p:spPr>
        <p:txBody>
          <a:bodyPr anchor="t" rtlCol="false" tIns="0" lIns="0" bIns="0" rIns="0">
            <a:spAutoFit/>
          </a:bodyPr>
          <a:lstStyle/>
          <a:p>
            <a:pPr algn="ctr">
              <a:lnSpc>
                <a:spcPts val="6596"/>
              </a:lnSpc>
            </a:pPr>
            <a:r>
              <a:rPr lang="en-US" b="true" sz="6800">
                <a:solidFill>
                  <a:srgbClr val="1C2120"/>
                </a:solidFill>
                <a:latin typeface="Poppins Bold"/>
                <a:ea typeface="Poppins Bold"/>
                <a:cs typeface="Poppins Bold"/>
                <a:sym typeface="Poppins Bold"/>
              </a:rPr>
              <a:t>T-update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9861" y="1372050"/>
            <a:ext cx="15319580" cy="7506594"/>
          </a:xfrm>
          <a:custGeom>
            <a:avLst/>
            <a:gdLst/>
            <a:ahLst/>
            <a:cxnLst/>
            <a:rect r="r" b="b" t="t" l="l"/>
            <a:pathLst>
              <a:path h="7506594" w="15319580">
                <a:moveTo>
                  <a:pt x="0" y="0"/>
                </a:moveTo>
                <a:lnTo>
                  <a:pt x="15319580" y="0"/>
                </a:lnTo>
                <a:lnTo>
                  <a:pt x="15319580" y="7506594"/>
                </a:lnTo>
                <a:lnTo>
                  <a:pt x="0" y="7506594"/>
                </a:lnTo>
                <a:lnTo>
                  <a:pt x="0" y="0"/>
                </a:lnTo>
                <a:close/>
              </a:path>
            </a:pathLst>
          </a:custGeom>
          <a:blipFill>
            <a:blip r:embed="rId2"/>
            <a:stretch>
              <a:fillRect l="0" t="0" r="0" b="0"/>
            </a:stretch>
          </a:blipFill>
        </p:spPr>
      </p:sp>
      <p:grpSp>
        <p:nvGrpSpPr>
          <p:cNvPr name="Group 3" id="3"/>
          <p:cNvGrpSpPr/>
          <p:nvPr/>
        </p:nvGrpSpPr>
        <p:grpSpPr>
          <a:xfrm rot="0">
            <a:off x="2910486" y="2724310"/>
            <a:ext cx="13071071" cy="502998"/>
            <a:chOff x="0" y="0"/>
            <a:chExt cx="3442587" cy="132477"/>
          </a:xfrm>
        </p:grpSpPr>
        <p:sp>
          <p:nvSpPr>
            <p:cNvPr name="Freeform 4" id="4"/>
            <p:cNvSpPr/>
            <p:nvPr/>
          </p:nvSpPr>
          <p:spPr>
            <a:xfrm flipH="false" flipV="false" rot="0">
              <a:off x="0" y="0"/>
              <a:ext cx="3442587" cy="132477"/>
            </a:xfrm>
            <a:custGeom>
              <a:avLst/>
              <a:gdLst/>
              <a:ahLst/>
              <a:cxnLst/>
              <a:rect r="r" b="b" t="t" l="l"/>
              <a:pathLst>
                <a:path h="132477" w="3442587">
                  <a:moveTo>
                    <a:pt x="0" y="0"/>
                  </a:moveTo>
                  <a:lnTo>
                    <a:pt x="3442587" y="0"/>
                  </a:lnTo>
                  <a:lnTo>
                    <a:pt x="3442587" y="132477"/>
                  </a:lnTo>
                  <a:lnTo>
                    <a:pt x="0" y="132477"/>
                  </a:lnTo>
                  <a:close/>
                </a:path>
              </a:pathLst>
            </a:custGeom>
            <a:solidFill>
              <a:srgbClr val="FFFFFF"/>
            </a:solidFill>
          </p:spPr>
        </p:sp>
        <p:sp>
          <p:nvSpPr>
            <p:cNvPr name="TextBox 5" id="5"/>
            <p:cNvSpPr txBox="true"/>
            <p:nvPr/>
          </p:nvSpPr>
          <p:spPr>
            <a:xfrm>
              <a:off x="0" y="-38100"/>
              <a:ext cx="3442587" cy="17057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904840" y="1248225"/>
            <a:ext cx="4014956" cy="822220"/>
          </a:xfrm>
          <a:prstGeom prst="rect">
            <a:avLst/>
          </a:prstGeom>
        </p:spPr>
        <p:txBody>
          <a:bodyPr anchor="t" rtlCol="false" tIns="0" lIns="0" bIns="0" rIns="0">
            <a:spAutoFit/>
          </a:bodyPr>
          <a:lstStyle/>
          <a:p>
            <a:pPr algn="ctr">
              <a:lnSpc>
                <a:spcPts val="6472"/>
              </a:lnSpc>
              <a:spcBef>
                <a:spcPct val="0"/>
              </a:spcBef>
            </a:pPr>
            <a:r>
              <a:rPr lang="en-US" b="true" sz="4623">
                <a:solidFill>
                  <a:srgbClr val="000000"/>
                </a:solidFill>
                <a:latin typeface="Poppins Bold"/>
                <a:ea typeface="Poppins Bold"/>
                <a:cs typeface="Poppins Bold"/>
                <a:sym typeface="Poppins Bold"/>
              </a:rPr>
              <a:t>Ground Truth</a:t>
            </a:r>
          </a:p>
        </p:txBody>
      </p:sp>
      <p:sp>
        <p:nvSpPr>
          <p:cNvPr name="TextBox 7" id="7"/>
          <p:cNvSpPr txBox="true"/>
          <p:nvPr/>
        </p:nvSpPr>
        <p:spPr>
          <a:xfrm rot="0">
            <a:off x="7410525" y="1248225"/>
            <a:ext cx="3278250" cy="822220"/>
          </a:xfrm>
          <a:prstGeom prst="rect">
            <a:avLst/>
          </a:prstGeom>
        </p:spPr>
        <p:txBody>
          <a:bodyPr anchor="t" rtlCol="false" tIns="0" lIns="0" bIns="0" rIns="0">
            <a:spAutoFit/>
          </a:bodyPr>
          <a:lstStyle/>
          <a:p>
            <a:pPr algn="ctr">
              <a:lnSpc>
                <a:spcPts val="6472"/>
              </a:lnSpc>
              <a:spcBef>
                <a:spcPct val="0"/>
              </a:spcBef>
            </a:pPr>
            <a:r>
              <a:rPr lang="en-US" b="true" sz="4623">
                <a:solidFill>
                  <a:srgbClr val="000000"/>
                </a:solidFill>
                <a:latin typeface="Poppins Bold"/>
                <a:ea typeface="Poppins Bold"/>
                <a:cs typeface="Poppins Bold"/>
                <a:sym typeface="Poppins Bold"/>
              </a:rPr>
              <a:t>Zero-Filled</a:t>
            </a:r>
          </a:p>
        </p:txBody>
      </p:sp>
      <p:sp>
        <p:nvSpPr>
          <p:cNvPr name="TextBox 8" id="8"/>
          <p:cNvSpPr txBox="true"/>
          <p:nvPr/>
        </p:nvSpPr>
        <p:spPr>
          <a:xfrm rot="0">
            <a:off x="11933087" y="1248225"/>
            <a:ext cx="3931088" cy="822220"/>
          </a:xfrm>
          <a:prstGeom prst="rect">
            <a:avLst/>
          </a:prstGeom>
        </p:spPr>
        <p:txBody>
          <a:bodyPr anchor="t" rtlCol="false" tIns="0" lIns="0" bIns="0" rIns="0">
            <a:spAutoFit/>
          </a:bodyPr>
          <a:lstStyle/>
          <a:p>
            <a:pPr algn="ctr">
              <a:lnSpc>
                <a:spcPts val="6472"/>
              </a:lnSpc>
              <a:spcBef>
                <a:spcPct val="0"/>
              </a:spcBef>
            </a:pPr>
            <a:r>
              <a:rPr lang="en-US" b="true" sz="4623">
                <a:solidFill>
                  <a:srgbClr val="000000"/>
                </a:solidFill>
                <a:latin typeface="Poppins Bold"/>
                <a:ea typeface="Poppins Bold"/>
                <a:cs typeface="Poppins Bold"/>
                <a:sym typeface="Poppins Bold"/>
              </a:rPr>
              <a:t>ADMM Recon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AD7D4"/>
        </a:solidFill>
      </p:bgPr>
    </p:bg>
    <p:spTree>
      <p:nvGrpSpPr>
        <p:cNvPr id="1" name=""/>
        <p:cNvGrpSpPr/>
        <p:nvPr/>
      </p:nvGrpSpPr>
      <p:grpSpPr>
        <a:xfrm>
          <a:off x="0" y="0"/>
          <a:ext cx="0" cy="0"/>
          <a:chOff x="0" y="0"/>
          <a:chExt cx="0" cy="0"/>
        </a:xfrm>
      </p:grpSpPr>
      <p:sp>
        <p:nvSpPr>
          <p:cNvPr name="Freeform 2" id="2"/>
          <p:cNvSpPr/>
          <p:nvPr/>
        </p:nvSpPr>
        <p:spPr>
          <a:xfrm flipH="false" flipV="false" rot="0">
            <a:off x="2289811" y="2348341"/>
            <a:ext cx="13708378" cy="7539608"/>
          </a:xfrm>
          <a:custGeom>
            <a:avLst/>
            <a:gdLst/>
            <a:ahLst/>
            <a:cxnLst/>
            <a:rect r="r" b="b" t="t" l="l"/>
            <a:pathLst>
              <a:path h="7539608" w="13708378">
                <a:moveTo>
                  <a:pt x="0" y="0"/>
                </a:moveTo>
                <a:lnTo>
                  <a:pt x="13708378" y="0"/>
                </a:lnTo>
                <a:lnTo>
                  <a:pt x="13708378" y="7539608"/>
                </a:lnTo>
                <a:lnTo>
                  <a:pt x="0" y="7539608"/>
                </a:lnTo>
                <a:lnTo>
                  <a:pt x="0" y="0"/>
                </a:lnTo>
                <a:close/>
              </a:path>
            </a:pathLst>
          </a:custGeom>
          <a:blipFill>
            <a:blip r:embed="rId2"/>
            <a:stretch>
              <a:fillRect l="0" t="0" r="0" b="0"/>
            </a:stretch>
          </a:blipFill>
        </p:spPr>
      </p:sp>
      <p:sp>
        <p:nvSpPr>
          <p:cNvPr name="TextBox 3" id="3"/>
          <p:cNvSpPr txBox="true"/>
          <p:nvPr/>
        </p:nvSpPr>
        <p:spPr>
          <a:xfrm rot="0">
            <a:off x="4642805" y="247933"/>
            <a:ext cx="8556535" cy="1919137"/>
          </a:xfrm>
          <a:prstGeom prst="rect">
            <a:avLst/>
          </a:prstGeom>
        </p:spPr>
        <p:txBody>
          <a:bodyPr anchor="t" rtlCol="false" tIns="0" lIns="0" bIns="0" rIns="0">
            <a:spAutoFit/>
          </a:bodyPr>
          <a:lstStyle/>
          <a:p>
            <a:pPr algn="ctr">
              <a:lnSpc>
                <a:spcPts val="7111"/>
              </a:lnSpc>
            </a:pPr>
            <a:r>
              <a:rPr lang="en-US" b="true" sz="7331">
                <a:solidFill>
                  <a:srgbClr val="1C2120"/>
                </a:solidFill>
                <a:latin typeface="Poppins Bold"/>
                <a:ea typeface="Poppins Bold"/>
                <a:cs typeface="Poppins Bold"/>
                <a:sym typeface="Poppins Bold"/>
              </a:rPr>
              <a:t>ADMM CONVERGENCE</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3182017" y="2041040"/>
            <a:ext cx="11923966" cy="2888952"/>
          </a:xfrm>
          <a:prstGeom prst="rect">
            <a:avLst/>
          </a:prstGeom>
        </p:spPr>
        <p:txBody>
          <a:bodyPr anchor="t" rtlCol="false" tIns="0" lIns="0" bIns="0" rIns="0">
            <a:spAutoFit/>
          </a:bodyPr>
          <a:lstStyle/>
          <a:p>
            <a:pPr algn="ctr">
              <a:lnSpc>
                <a:spcPts val="10460"/>
              </a:lnSpc>
            </a:pPr>
            <a:r>
              <a:rPr lang="en-US" b="true" sz="12023">
                <a:solidFill>
                  <a:srgbClr val="1C2120"/>
                </a:solidFill>
                <a:latin typeface="Poppins Bold"/>
                <a:ea typeface="Poppins Bold"/>
                <a:cs typeface="Poppins Bold"/>
                <a:sym typeface="Poppins Bold"/>
              </a:rPr>
              <a:t>Thank you very much!</a:t>
            </a:r>
          </a:p>
        </p:txBody>
      </p:sp>
      <p:grpSp>
        <p:nvGrpSpPr>
          <p:cNvPr name="Group 3" id="3"/>
          <p:cNvGrpSpPr/>
          <p:nvPr/>
        </p:nvGrpSpPr>
        <p:grpSpPr>
          <a:xfrm rot="0">
            <a:off x="5652409" y="6483944"/>
            <a:ext cx="6983181" cy="669188"/>
            <a:chOff x="0" y="0"/>
            <a:chExt cx="1839192" cy="176247"/>
          </a:xfrm>
        </p:grpSpPr>
        <p:sp>
          <p:nvSpPr>
            <p:cNvPr name="Freeform 4" id="4"/>
            <p:cNvSpPr/>
            <p:nvPr/>
          </p:nvSpPr>
          <p:spPr>
            <a:xfrm flipH="false" flipV="false" rot="0">
              <a:off x="0" y="0"/>
              <a:ext cx="1839192" cy="176247"/>
            </a:xfrm>
            <a:custGeom>
              <a:avLst/>
              <a:gdLst/>
              <a:ahLst/>
              <a:cxnLst/>
              <a:rect r="r" b="b" t="t" l="l"/>
              <a:pathLst>
                <a:path h="176247" w="1839192">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name="TextBox 5" id="5"/>
            <p:cNvSpPr txBox="true"/>
            <p:nvPr/>
          </p:nvSpPr>
          <p:spPr>
            <a:xfrm>
              <a:off x="0" y="-38100"/>
              <a:ext cx="1839192" cy="21434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916295" y="6596449"/>
            <a:ext cx="6617965" cy="482280"/>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PRESENTED BY HELENE PAQUET</a:t>
            </a:r>
          </a:p>
        </p:txBody>
      </p:sp>
      <p:grpSp>
        <p:nvGrpSpPr>
          <p:cNvPr name="Group 7" id="7"/>
          <p:cNvGrpSpPr/>
          <p:nvPr/>
        </p:nvGrpSpPr>
        <p:grpSpPr>
          <a:xfrm rot="0">
            <a:off x="4496811" y="5519121"/>
            <a:ext cx="9732447" cy="4052900"/>
            <a:chOff x="0" y="0"/>
            <a:chExt cx="2563278" cy="1067430"/>
          </a:xfrm>
        </p:grpSpPr>
        <p:sp>
          <p:nvSpPr>
            <p:cNvPr name="Freeform 8" id="8"/>
            <p:cNvSpPr/>
            <p:nvPr/>
          </p:nvSpPr>
          <p:spPr>
            <a:xfrm flipH="false" flipV="false" rot="0">
              <a:off x="0" y="0"/>
              <a:ext cx="2563278" cy="1067430"/>
            </a:xfrm>
            <a:custGeom>
              <a:avLst/>
              <a:gdLst/>
              <a:ahLst/>
              <a:cxnLst/>
              <a:rect r="r" b="b" t="t" l="l"/>
              <a:pathLst>
                <a:path h="1067430" w="2563278">
                  <a:moveTo>
                    <a:pt x="0" y="0"/>
                  </a:moveTo>
                  <a:lnTo>
                    <a:pt x="2563278" y="0"/>
                  </a:lnTo>
                  <a:lnTo>
                    <a:pt x="2563278" y="1067430"/>
                  </a:lnTo>
                  <a:lnTo>
                    <a:pt x="0" y="1067430"/>
                  </a:lnTo>
                  <a:close/>
                </a:path>
              </a:pathLst>
            </a:custGeom>
            <a:solidFill>
              <a:srgbClr val="AAD7D4"/>
            </a:solidFill>
            <a:ln w="28575" cap="sq">
              <a:solidFill>
                <a:srgbClr val="1C2120"/>
              </a:solidFill>
              <a:prstDash val="solid"/>
              <a:miter/>
            </a:ln>
          </p:spPr>
        </p:sp>
        <p:sp>
          <p:nvSpPr>
            <p:cNvPr name="TextBox 9" id="9"/>
            <p:cNvSpPr txBox="true"/>
            <p:nvPr/>
          </p:nvSpPr>
          <p:spPr>
            <a:xfrm>
              <a:off x="0" y="-38100"/>
              <a:ext cx="2563278" cy="110553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4709631" y="6241131"/>
            <a:ext cx="9306808" cy="2646980"/>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GROUP D-1</a:t>
            </a:r>
          </a:p>
          <a:p>
            <a:pPr algn="ctr">
              <a:lnSpc>
                <a:spcPts val="3445"/>
              </a:lnSpc>
            </a:pPr>
          </a:p>
          <a:p>
            <a:pPr algn="ctr">
              <a:lnSpc>
                <a:spcPts val="3445"/>
              </a:lnSpc>
            </a:pPr>
            <a:r>
              <a:rPr lang="en-US" sz="3445" spc="-68">
                <a:solidFill>
                  <a:srgbClr val="1C2120"/>
                </a:solidFill>
                <a:latin typeface="Poppins"/>
                <a:ea typeface="Poppins"/>
                <a:cs typeface="Poppins"/>
                <a:sym typeface="Poppins"/>
              </a:rPr>
              <a:t>ARJUN - CB.SC.U4AIE24305</a:t>
            </a:r>
          </a:p>
          <a:p>
            <a:pPr algn="ctr">
              <a:lnSpc>
                <a:spcPts val="3445"/>
              </a:lnSpc>
            </a:pPr>
            <a:r>
              <a:rPr lang="en-US" sz="3445" spc="-68">
                <a:solidFill>
                  <a:srgbClr val="1C2120"/>
                </a:solidFill>
                <a:latin typeface="Poppins"/>
                <a:ea typeface="Poppins"/>
                <a:cs typeface="Poppins"/>
                <a:sym typeface="Poppins"/>
              </a:rPr>
              <a:t>DHAKSHIN - CB.SC.U4AIE24313</a:t>
            </a:r>
          </a:p>
          <a:p>
            <a:pPr algn="ctr">
              <a:lnSpc>
                <a:spcPts val="3445"/>
              </a:lnSpc>
            </a:pPr>
            <a:r>
              <a:rPr lang="en-US" sz="3445" spc="-68">
                <a:solidFill>
                  <a:srgbClr val="1C2120"/>
                </a:solidFill>
                <a:latin typeface="Poppins"/>
                <a:ea typeface="Poppins"/>
                <a:cs typeface="Poppins"/>
                <a:sym typeface="Poppins"/>
              </a:rPr>
              <a:t>SANJAY KUMAR S - CB.SC.U4AIE24354</a:t>
            </a:r>
          </a:p>
          <a:p>
            <a:pPr algn="ctr">
              <a:lnSpc>
                <a:spcPts val="3445"/>
              </a:lnSpc>
            </a:pPr>
            <a:r>
              <a:rPr lang="en-US" sz="3445" spc="-68">
                <a:solidFill>
                  <a:srgbClr val="1C2120"/>
                </a:solidFill>
                <a:latin typeface="Poppins"/>
                <a:ea typeface="Poppins"/>
                <a:cs typeface="Poppins"/>
                <a:sym typeface="Poppins"/>
              </a:rPr>
              <a:t>KNEEV S JAIN - CB.SC.U4AIE24364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DAG1au4Btyk</dc:identifier>
  <dcterms:modified xsi:type="dcterms:W3CDTF">2011-08-01T06:04:30Z</dcterms:modified>
  <cp:revision>1</cp:revision>
  <dc:title>An accelerated alternating direction method of multiplier for MRI with TV regularisation</dc:title>
</cp:coreProperties>
</file>